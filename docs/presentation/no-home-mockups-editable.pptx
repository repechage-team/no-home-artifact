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문제 정의</a:t>
            </a:r>
          </a:p>
        </p:txBody>
      </p:sp>
      <p:sp>
        <p:nvSpPr>
          <p:cNvPr id="8" name="Oval 7"/>
          <p:cNvSpPr/>
          <p:nvPr/>
        </p:nvSpPr>
        <p:spPr>
          <a:xfrm>
            <a:off x="704850" y="1638300"/>
            <a:ext cx="400050" cy="4000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1638300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1638300"/>
            <a:ext cx="8515350" cy="276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E3A"/>
                </a:solidFill>
                <a:latin typeface="Malgun Gothic"/>
              </a:rPr>
              <a:t>공공데이터 API의 높은 진입장벽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1952625"/>
            <a:ext cx="85153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국토부 실거래가 API는 XML 응답 + 법정동코드(LAWD_CD) + 계약년월(DEAL_YMD) — 비개발자가 직접 다루기 어렵다</a:t>
            </a:r>
          </a:p>
        </p:txBody>
      </p:sp>
      <p:sp>
        <p:nvSpPr>
          <p:cNvPr id="12" name="Oval 11"/>
          <p:cNvSpPr/>
          <p:nvPr/>
        </p:nvSpPr>
        <p:spPr>
          <a:xfrm>
            <a:off x="704850" y="2447925"/>
            <a:ext cx="400050" cy="400050"/>
          </a:xfrm>
          <a:prstGeom prst="ellipse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" y="244792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447925"/>
            <a:ext cx="6562725" cy="276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E3A"/>
                </a:solidFill>
                <a:latin typeface="Malgun Gothic"/>
              </a:rPr>
              <a:t>흩어진 거래유형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2762250"/>
            <a:ext cx="6562725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매매 / 전세 / 월세가 서로 다른 API에 분산 (RTMSDataSvcAptTrade · RTMSDataSvcAptRent)</a:t>
            </a:r>
          </a:p>
        </p:txBody>
      </p:sp>
      <p:sp>
        <p:nvSpPr>
          <p:cNvPr id="16" name="Oval 15"/>
          <p:cNvSpPr/>
          <p:nvPr/>
        </p:nvSpPr>
        <p:spPr>
          <a:xfrm>
            <a:off x="704850" y="3248025"/>
            <a:ext cx="400050" cy="4000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324802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3248025"/>
            <a:ext cx="8505825" cy="276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2E3A"/>
                </a:solidFill>
                <a:latin typeface="Malgun Gothic"/>
              </a:rPr>
              <a:t>대화형 화면 조작 경험의 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3562350"/>
            <a:ext cx="8505825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기존 서비스는 질문엔 답해도, 대화로 필터·페이지·지도를 직접 조작해 주지는 않는다 — 결국 사용자가 일일이 만져야 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" y="4114800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850" y="4114800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4114800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그래서 NoHome은 — 자연어 대화로 검색·필터·페이지·지도까지 조작하는 AI 어시스턴트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필수 기능 &amp;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43050"/>
            <a:ext cx="3305175" cy="981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1695450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F701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905000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실거래가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181225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매매·전월세 공공데이터 적재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43375" y="1543050"/>
            <a:ext cx="3305175" cy="981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4825" y="1695450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F702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4825" y="1905000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실거래가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4825" y="2181225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지역·아파트명·거래유형·가격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1900" y="1543050"/>
            <a:ext cx="3305175" cy="981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3350" y="1695450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F712~716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3350" y="1905000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회원 &amp; 로그인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3350" y="2181225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가입·조회·수정·물리삭제·로그인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850" y="2657475"/>
            <a:ext cx="3305175" cy="981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300" y="2809875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F720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" y="3019425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주택 정보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3295650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houses·house_deals 연계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43375" y="2657475"/>
            <a:ext cx="3305175" cy="9810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4825" y="2809875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지도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4825" y="3019425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검색결과 표시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4825" y="3295650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Kakao Map 마커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1900" y="2657475"/>
            <a:ext cx="3305175" cy="981075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3350" y="2809875"/>
            <a:ext cx="29622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3E8EDE"/>
                </a:solidFill>
                <a:latin typeface="Malgun Gothic"/>
              </a:rPr>
              <a:t>전략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3350" y="3019425"/>
            <a:ext cx="29622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2E3A"/>
                </a:solidFill>
                <a:latin typeface="Malgun Gothic"/>
              </a:rPr>
              <a:t>DB 우선 하이브리드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3350" y="3295650"/>
            <a:ext cx="29622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선적재 + DB 우선 조회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850" y="3933825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850" y="3933825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3933825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DB 선적재 + DB 우선 조회 하이브리드 · 회원 물리 삭제 · 검색결과 지도 표시가 기준선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추가 기능 — AI 어시스턴트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21920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검색 UI도 결국 필터를 직접 만져야 한다 → 자연어로 그 부담을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819275"/>
            <a:ext cx="4991100" cy="1466850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850" y="1819275"/>
            <a:ext cx="28575" cy="1466850"/>
          </a:xfrm>
          <a:prstGeom prst="rect">
            <a:avLst/>
          </a:prstGeom>
          <a:solidFill>
            <a:srgbClr val="2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2975" y="2038350"/>
            <a:ext cx="451485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>
                <a:solidFill>
                  <a:srgbClr val="2E2E3A"/>
                </a:solidFill>
                <a:latin typeface="Malgun Gothic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975" y="2524125"/>
            <a:ext cx="45148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6E56"/>
                </a:solidFill>
                <a:latin typeface="Malgun Gothic"/>
              </a:rPr>
              <a:t>질문 모드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" y="2847975"/>
            <a:ext cx="451485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0F6E56"/>
                </a:solidFill>
                <a:latin typeface="Malgun Gothic"/>
              </a:rPr>
              <a:t>"강남구 평균가 얼마야?" → 실거래 데이터를 요약해 답변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5500" y="1819275"/>
            <a:ext cx="4991100" cy="1466850"/>
          </a:xfrm>
          <a:prstGeom prst="roundRect">
            <a:avLst/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05500" y="1819275"/>
            <a:ext cx="28575" cy="1466850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3625" y="2038350"/>
            <a:ext cx="451485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>
                <a:solidFill>
                  <a:srgbClr val="2E2E3A"/>
                </a:solidFill>
                <a:latin typeface="Malgun Gothic"/>
              </a:rPr>
              <a:t>🖱️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3625" y="2524125"/>
            <a:ext cx="45148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8A4E08"/>
                </a:solidFill>
                <a:latin typeface="Malgun Gothic"/>
              </a:rPr>
              <a:t>에이전트 모드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3625" y="2847975"/>
            <a:ext cx="451485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4E08"/>
                </a:solidFill>
                <a:latin typeface="Malgun Gothic"/>
              </a:rPr>
              <a:t>"전세로 보증금 3억 이하" → 필터·검색·지도를 화면에서 실행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" y="3533775"/>
            <a:ext cx="1018222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8880"/>
                </a:solidFill>
                <a:latin typeface="Malgun Gothic"/>
              </a:rPr>
              <a:t>기능 진화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" y="4572000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850" y="4572000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4572000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기술 기반 Spring AI 1.1.2 · gpt-4o-mini · 단일 /api/ai/assistant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추진 계획 — 마일스톤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21920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일정 기준 git 커밋 실측 2026-06-12 ~ 06-24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743075"/>
            <a:ext cx="10182225" cy="476250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" y="1743075"/>
            <a:ext cx="10182225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7A5A10"/>
                </a:solidFill>
                <a:latin typeface="Malgun Gothic"/>
              </a:rPr>
              <a:t>⭐ Sprint 0~12는 원본 소유자(최민식)의 개인 작업 과정 — 팀 공동 기능추가는 6/18 이후</a:t>
            </a:r>
          </a:p>
        </p:txBody>
      </p:sp>
      <p:sp>
        <p:nvSpPr>
          <p:cNvPr id="11" name="Oval 10"/>
          <p:cNvSpPr/>
          <p:nvPr/>
        </p:nvSpPr>
        <p:spPr>
          <a:xfrm>
            <a:off x="1352550" y="2543175"/>
            <a:ext cx="400050" cy="4000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2550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계획·하네스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06-12</a:t>
            </a:r>
          </a:p>
        </p:txBody>
      </p:sp>
      <p:sp>
        <p:nvSpPr>
          <p:cNvPr id="15" name="Oval 14"/>
          <p:cNvSpPr/>
          <p:nvPr/>
        </p:nvSpPr>
        <p:spPr>
          <a:xfrm>
            <a:off x="3048000" y="2543175"/>
            <a:ext cx="400050" cy="400050"/>
          </a:xfrm>
          <a:prstGeom prst="ellipse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8000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5550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골격·DB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5550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06-12~14</a:t>
            </a:r>
          </a:p>
        </p:txBody>
      </p:sp>
      <p:sp>
        <p:nvSpPr>
          <p:cNvPr id="19" name="Oval 18"/>
          <p:cNvSpPr/>
          <p:nvPr/>
        </p:nvSpPr>
        <p:spPr>
          <a:xfrm>
            <a:off x="4743450" y="2543175"/>
            <a:ext cx="400050" cy="4000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43450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0525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실거래가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0525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~06-22</a:t>
            </a:r>
          </a:p>
        </p:txBody>
      </p:sp>
      <p:sp>
        <p:nvSpPr>
          <p:cNvPr id="23" name="Oval 22"/>
          <p:cNvSpPr/>
          <p:nvPr/>
        </p:nvSpPr>
        <p:spPr>
          <a:xfrm>
            <a:off x="6448425" y="2543175"/>
            <a:ext cx="400050" cy="400050"/>
          </a:xfrm>
          <a:prstGeom prst="ellipse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8425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5975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회원·인증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5975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06-18~23</a:t>
            </a:r>
          </a:p>
        </p:txBody>
      </p:sp>
      <p:sp>
        <p:nvSpPr>
          <p:cNvPr id="27" name="Oval 26"/>
          <p:cNvSpPr/>
          <p:nvPr/>
        </p:nvSpPr>
        <p:spPr>
          <a:xfrm>
            <a:off x="8143875" y="2543175"/>
            <a:ext cx="400050" cy="4000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3875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91425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화면·지도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1425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~06-24</a:t>
            </a:r>
          </a:p>
        </p:txBody>
      </p:sp>
      <p:sp>
        <p:nvSpPr>
          <p:cNvPr id="31" name="Oval 30"/>
          <p:cNvSpPr/>
          <p:nvPr/>
        </p:nvSpPr>
        <p:spPr>
          <a:xfrm>
            <a:off x="9839325" y="2543175"/>
            <a:ext cx="400050" cy="400050"/>
          </a:xfrm>
          <a:prstGeom prst="ellipse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39325" y="2543175"/>
            <a:ext cx="4000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algun Gothic"/>
              </a:rPr>
              <a:t>M7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400" y="3019425"/>
            <a:ext cx="14954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2E3A"/>
                </a:solidFill>
                <a:latin typeface="Malgun Gothic"/>
              </a:rPr>
              <a:t>제출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6400" y="3219450"/>
            <a:ext cx="1495425" cy="142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880"/>
                </a:solidFill>
                <a:latin typeface="Malgun Gothic"/>
              </a:rPr>
              <a:t>06-24~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850" y="3609975"/>
            <a:ext cx="10182225" cy="419100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팀 결성 &amp; 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428750"/>
            <a:ext cx="10182225" cy="590550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1428750"/>
            <a:ext cx="10182225" cy="590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7A5A10"/>
                </a:solidFill>
                <a:latin typeface="Malgun Gothic"/>
              </a:rPr>
              <a:t>각자 페어가 먼저 취업해 남은 셋이 모인 팀 — 패자부활전. 최민식의 기존 no-home 프로젝트를 온보딩 + 기능 추가하기로 결정.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850" y="2266950"/>
            <a:ext cx="3295650" cy="2057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47875" y="2457450"/>
            <a:ext cx="609600" cy="609600"/>
          </a:xfrm>
          <a:prstGeom prst="ellipse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7875" y="245745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lgun Gothic"/>
              </a:rPr>
              <a:t>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162300"/>
            <a:ext cx="29146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E2E3A"/>
                </a:solidFill>
                <a:latin typeface="Malgun Gothic"/>
              </a:rPr>
              <a:t>최민식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486150"/>
            <a:ext cx="2914650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5E5A"/>
                </a:solidFill>
                <a:latin typeface="Malgun Gothic"/>
              </a:rPr>
              <a:t>공공데이터 연동
+ 카카오맵 출력
+ 심화 기능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52900" y="2266950"/>
            <a:ext cx="3295650" cy="2057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2457450"/>
            <a:ext cx="609600" cy="609600"/>
          </a:xfrm>
          <a:prstGeom prst="ellipse">
            <a:avLst/>
          </a:prstGeom>
          <a:solidFill>
            <a:srgbClr val="2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45745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lgun Gothic"/>
              </a:rPr>
              <a:t>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62300"/>
            <a:ext cx="29146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E2E3A"/>
                </a:solidFill>
                <a:latin typeface="Malgun Gothic"/>
              </a:rPr>
              <a:t>전효준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486150"/>
            <a:ext cx="291465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5E5A"/>
                </a:solidFill>
                <a:latin typeface="Malgun Gothic"/>
              </a:rPr>
              <a:t>회원 인증
(세션 → 토큰)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91425" y="2266950"/>
            <a:ext cx="3295650" cy="2057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34450" y="2457450"/>
            <a:ext cx="609600" cy="60960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34450" y="2457450"/>
            <a:ext cx="609600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Malgun Gothic"/>
              </a:rPr>
              <a:t>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81925" y="3162300"/>
            <a:ext cx="291465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2E2E3A"/>
                </a:solidFill>
                <a:latin typeface="Malgun Gothic"/>
              </a:rPr>
              <a:t>이정헌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1925" y="3486150"/>
            <a:ext cx="291465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5F5E5A"/>
                </a:solidFill>
                <a:latin typeface="Malgun Gothic"/>
              </a:rPr>
              <a:t>AI 챗봇 &amp; 어시스턴트
+ 팀장(일정·진행·역할)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경쟁 서비스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657350"/>
            <a:ext cx="3743325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5E5A"/>
                </a:solidFill>
                <a:latin typeface="Malgun Gothic"/>
              </a:rPr>
              <a:t>항목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8175" y="1657350"/>
            <a:ext cx="1371600" cy="485775"/>
          </a:xfrm>
          <a:prstGeom prst="round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8175" y="1657350"/>
            <a:ext cx="1371600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5A4410"/>
                </a:solidFill>
                <a:latin typeface="Malgun Gothic"/>
              </a:rPr>
              <a:t>NoHome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0" y="1657350"/>
            <a:ext cx="1219200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호갱노노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1657350"/>
            <a:ext cx="762000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직방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0" y="1657350"/>
            <a:ext cx="1762125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네이버 부동산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2625" y="1657350"/>
            <a:ext cx="1314450" cy="4857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KB부동산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850" y="2219325"/>
            <a:ext cx="10182225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219325"/>
            <a:ext cx="37433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실거래가 제공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8175" y="2219325"/>
            <a:ext cx="1371600" cy="5143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8175" y="2219325"/>
            <a:ext cx="1371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9300" y="2219325"/>
            <a:ext cx="1219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8500" y="2219325"/>
            <a:ext cx="7620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0" y="2219325"/>
            <a:ext cx="17621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2625" y="2219325"/>
            <a:ext cx="13144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850" y="2809875"/>
            <a:ext cx="10182225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850" y="2809875"/>
            <a:ext cx="37433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지도 표시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48175" y="2809875"/>
            <a:ext cx="1371600" cy="5143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8175" y="2809875"/>
            <a:ext cx="1371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9300" y="2809875"/>
            <a:ext cx="1219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8500" y="2809875"/>
            <a:ext cx="7620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0500" y="2809875"/>
            <a:ext cx="17621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2625" y="2809875"/>
            <a:ext cx="13144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850" y="3400425"/>
            <a:ext cx="10182225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850" y="3400425"/>
            <a:ext cx="37433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AI 검색 챗봇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48175" y="3400425"/>
            <a:ext cx="1371600" cy="5143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175" y="3400425"/>
            <a:ext cx="1371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29300" y="3400425"/>
            <a:ext cx="1219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0982B"/>
                </a:solidFill>
                <a:latin typeface="Malgun Gothic"/>
              </a:rPr>
              <a:t>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8500" y="3400425"/>
            <a:ext cx="7620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0982B"/>
                </a:solidFill>
                <a:latin typeface="Malgun Gothic"/>
              </a:rPr>
              <a:t>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0" y="3400425"/>
            <a:ext cx="17621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0982B"/>
                </a:solidFill>
                <a:latin typeface="Malgun Gothic"/>
              </a:rPr>
              <a:t>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72625" y="3400425"/>
            <a:ext cx="13144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0982B"/>
                </a:solidFill>
                <a:latin typeface="Malgun Gothic"/>
              </a:rPr>
              <a:t>△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850" y="3990975"/>
            <a:ext cx="10182225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850" y="3990975"/>
            <a:ext cx="37433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공공데이터 직접 연동·적재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48175" y="3990975"/>
            <a:ext cx="1371600" cy="5143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48175" y="3990975"/>
            <a:ext cx="1371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29300" y="3990975"/>
            <a:ext cx="1219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8500" y="3990975"/>
            <a:ext cx="7620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0" y="3990975"/>
            <a:ext cx="17621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72625" y="3990975"/>
            <a:ext cx="13144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850" y="4581525"/>
            <a:ext cx="10182225" cy="514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850" y="4581525"/>
            <a:ext cx="37433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AI 어시스턴트로 화면 조작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48175" y="4581525"/>
            <a:ext cx="1371600" cy="5143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48175" y="4581525"/>
            <a:ext cx="1371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29300" y="4581525"/>
            <a:ext cx="12192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8500" y="4581525"/>
            <a:ext cx="7620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0500" y="4581525"/>
            <a:ext cx="17621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72625" y="4581525"/>
            <a:ext cx="13144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C9C7BF"/>
                </a:solidFill>
                <a:latin typeface="Malgun Gothic"/>
              </a:rPr>
              <a:t>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850" y="5400675"/>
            <a:ext cx="1018222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5A92"/>
                </a:solidFill>
                <a:latin typeface="Malgun Gothic"/>
              </a:rPr>
              <a:t>아래로 갈수록 NoHome만 남는다 — 핵심 차별은 자연어 AI 화면 조작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차별화 전략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62100"/>
            <a:ext cx="3276600" cy="1762125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71650"/>
            <a:ext cx="2857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2E2E3A"/>
                </a:solidFill>
                <a:latin typeface="Malgun Gothic"/>
              </a:rP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62200"/>
            <a:ext cx="2857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8A6310"/>
                </a:solidFill>
                <a:latin typeface="Malgun Gothic"/>
              </a:rPr>
              <a:t>자동 임포트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86050"/>
            <a:ext cx="285750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7A5A10"/>
                </a:solidFill>
                <a:latin typeface="Malgun Gothic"/>
              </a:rPr>
              <a:t>API를 몰라도 검색하면 부족분이 자동으로 채워진다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52900" y="1562100"/>
            <a:ext cx="3276600" cy="1762125"/>
          </a:xfrm>
          <a:prstGeom prst="round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2450" y="1771650"/>
            <a:ext cx="2857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2E2E3A"/>
                </a:solidFill>
                <a:latin typeface="Malgun Gothic"/>
              </a:rPr>
              <a:t>🗣️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2450" y="2362200"/>
            <a:ext cx="2857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85FA5"/>
                </a:solidFill>
                <a:latin typeface="Malgun Gothic"/>
              </a:rPr>
              <a:t>AI 어시스턴트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2450" y="2686050"/>
            <a:ext cx="285750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F5A92"/>
                </a:solidFill>
                <a:latin typeface="Malgun Gothic"/>
              </a:rPr>
              <a:t>말로 검색·필터·페이지·지도 조작 (capability-driven)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0475" y="1562100"/>
            <a:ext cx="3276600" cy="1762125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0025" y="1771650"/>
            <a:ext cx="28575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2E2E3A"/>
                </a:solidFill>
                <a:latin typeface="Malgun Gothic"/>
              </a:rPr>
              <a:t>🗂️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0025" y="2362200"/>
            <a:ext cx="28575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0F6E56"/>
                </a:solidFill>
                <a:latin typeface="Malgun Gothic"/>
              </a:rPr>
              <a:t>정합성 +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0025" y="2686050"/>
            <a:ext cx="2857500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F6E56"/>
                </a:solidFill>
                <a:latin typeface="Malgun Gothic"/>
              </a:rPr>
              <a:t>중복제거·멱등 적재한 실거래 RDB를 Tool Calling으로 조회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" y="3629025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850" y="3629025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3629025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벡터 임베딩 없이 Tool Calling으로 실거래 RDB를 조회하는 structured retrieval 기반 RAG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필수 기능 구현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과제 필수 요건을 빠짐없이 구현·검증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1838325"/>
            <a:ext cx="142875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1838325"/>
            <a:ext cx="264795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5E5A"/>
                </a:solidFill>
                <a:latin typeface="Malgun Gothic"/>
              </a:rPr>
              <a:t>기능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550" y="1838325"/>
            <a:ext cx="386715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5E5A"/>
                </a:solidFill>
                <a:latin typeface="Malgun Gothic"/>
              </a:rPr>
              <a:t>근거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8700" y="1838325"/>
            <a:ext cx="1019175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상태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67875" y="1838325"/>
            <a:ext cx="1219200" cy="476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F5E5A"/>
                </a:solidFill>
                <a:latin typeface="Malgun Gothic"/>
              </a:rPr>
              <a:t>담당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850" y="2390775"/>
            <a:ext cx="10182225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850" y="2390775"/>
            <a:ext cx="1428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2E3A"/>
                </a:solidFill>
                <a:latin typeface="Malgun Gothic"/>
              </a:rPr>
              <a:t>F701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2390775"/>
            <a:ext cx="2647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실거래가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1550" y="2390775"/>
            <a:ext cx="3867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매매·전월세 API 2종 적재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8700" y="2390775"/>
            <a:ext cx="1019175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850" y="3000375"/>
            <a:ext cx="10182225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3000375"/>
            <a:ext cx="1428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2E3A"/>
                </a:solidFill>
                <a:latin typeface="Malgun Gothic"/>
              </a:rPr>
              <a:t>F702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0" y="3000375"/>
            <a:ext cx="2647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실거래가 검색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1550" y="3000375"/>
            <a:ext cx="3867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지역·아파트명·거래유형·가격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8700" y="3000375"/>
            <a:ext cx="1019175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850" y="3609975"/>
            <a:ext cx="10182225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50" y="3609975"/>
            <a:ext cx="1428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2E3A"/>
                </a:solidFill>
                <a:latin typeface="Malgun Gothic"/>
              </a:rPr>
              <a:t>F712~716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3600" y="3609975"/>
            <a:ext cx="2647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회원 &amp; 로그인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1550" y="3609975"/>
            <a:ext cx="3867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가입·조회·수정·물리삭제·로그인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8700" y="3609975"/>
            <a:ext cx="1019175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850" y="4219575"/>
            <a:ext cx="10182225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4219575"/>
            <a:ext cx="1428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2E3A"/>
                </a:solidFill>
                <a:latin typeface="Malgun Gothic"/>
              </a:rPr>
              <a:t>F720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3600" y="4219575"/>
            <a:ext cx="2647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주택 정보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1550" y="4219575"/>
            <a:ext cx="3867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houses·house_deals 연계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8700" y="4219575"/>
            <a:ext cx="1019175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850" y="4829175"/>
            <a:ext cx="10182225" cy="53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850" y="4829175"/>
            <a:ext cx="14287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2E2E3A"/>
                </a:solidFill>
                <a:latin typeface="Malgun Gothic"/>
              </a:rPr>
              <a:t>지도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33600" y="4829175"/>
            <a:ext cx="26479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검색결과 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1550" y="4829175"/>
            <a:ext cx="386715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Kakao Map geocoding 마커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8700" y="4829175"/>
            <a:ext cx="1019175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D9E75"/>
                </a:solidFill>
                <a:latin typeface="Malgun Gothic"/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850" y="5743575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850" y="5743575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850" y="5743575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필수를 넘어 AI 어시스턴트 · 전월세 · 관심지역 · 공지 · 관리자 권한까지 확장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실거래가 검색 + 자동 임포트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485900"/>
            <a:ext cx="314325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2E2E3A"/>
                </a:solidFill>
                <a:latin typeface="Malgun Gothic"/>
              </a:rPr>
              <a:t>🏷️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1485900"/>
            <a:ext cx="318135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5개 거래유형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" y="2190750"/>
            <a:ext cx="314325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2E2E3A"/>
                </a:solidFill>
                <a:latin typeface="Malgun Gothic"/>
              </a:rPr>
              <a:t>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2190750"/>
            <a:ext cx="22383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지역 3단계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2428875"/>
            <a:ext cx="223837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시도 → 시군구 → 법정동(동적 로드)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743200"/>
            <a:ext cx="314325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2E2E3A"/>
                </a:solidFill>
                <a:latin typeface="Malgun Gothic"/>
              </a:rPr>
              <a:t>🎚️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2743200"/>
            <a:ext cx="293370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가격 이중 슬라이더 · 정렬 · 페이징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2981325"/>
            <a:ext cx="2933700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거래유형별 가격 필터 분기(매매가/보증금/월세)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" y="3295650"/>
            <a:ext cx="314325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2E2E3A"/>
                </a:solidFill>
                <a:latin typeface="Malgun Gothic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3295650"/>
            <a:ext cx="278130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자동 임포트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3533775"/>
            <a:ext cx="2781300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DB 우선 조회, 부족분만 공공데이터 자동 적재</a:t>
            </a:r>
          </a:p>
        </p:txBody>
      </p:sp>
      <p:pic>
        <p:nvPicPr>
          <p:cNvPr id="19" name="Picture 18" descr="gangnamgu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485900"/>
            <a:ext cx="4972050" cy="271462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24550" y="4305300"/>
            <a:ext cx="497205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Malgun Gothic"/>
              </a:rPr>
              <a:t>강남구 검색 — 목록 + 지도 마커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회원 · 인증 · 개인화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581150"/>
            <a:ext cx="304800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E3A"/>
                </a:solidFill>
                <a:latin typeface="Malgun Gothic"/>
              </a:rP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1581150"/>
            <a:ext cx="257175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회원 CRUD +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1819275"/>
            <a:ext cx="2571750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가입·조회·수정·물리삭제·로그인·로그아웃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2133600"/>
            <a:ext cx="304800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E3A"/>
                </a:solidFill>
                <a:latin typeface="Malgun Gothic"/>
              </a:rPr>
              <a:t>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2133600"/>
            <a:ext cx="480060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950" y="2371725"/>
            <a:ext cx="480060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BCrypt 해싱 · JWT(HS256) access/refresh · HttpOnly 쿠키 · 운영 fail-closed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850" y="2867025"/>
            <a:ext cx="304800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E3A"/>
                </a:solidFill>
                <a:latin typeface="Malgun Gothic"/>
              </a:rPr>
              <a:t>🛡️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50" y="2867025"/>
            <a:ext cx="233362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관리자 권한 분리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3105150"/>
            <a:ext cx="23336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회원 검색은 관리자만 — 일반회원 403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419475"/>
            <a:ext cx="304800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2E2E3A"/>
                </a:solidFill>
                <a:latin typeface="Malgun Gothic"/>
              </a:rPr>
              <a:t>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3419475"/>
            <a:ext cx="309562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개인화 (추가)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3950" y="3657600"/>
            <a:ext cx="309562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관심지역(/interest-regions) · 공지사항(/notices)</a:t>
            </a:r>
          </a:p>
        </p:txBody>
      </p:sp>
      <p:pic>
        <p:nvPicPr>
          <p:cNvPr id="20" name="Picture 19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81150"/>
            <a:ext cx="2362200" cy="2143125"/>
          </a:xfrm>
          <a:prstGeom prst="rect">
            <a:avLst/>
          </a:prstGeom>
        </p:spPr>
      </p:pic>
      <p:pic>
        <p:nvPicPr>
          <p:cNvPr id="21" name="Picture 20" descr="memberIn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0125" y="1581150"/>
            <a:ext cx="2362200" cy="21431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72200" y="3781425"/>
            <a:ext cx="4714875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Malgun Gothic"/>
              </a:rPr>
              <a:t>로그인 · 내 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514350"/>
            <a:ext cx="102584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AI 어시스턴트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6750" y="1085850"/>
            <a:ext cx="102584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단일 POST /api/ai/assistant — 말 한마디로 묻고, 화면까지 움직인다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50" y="1590675"/>
            <a:ext cx="2514600" cy="5238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1590675"/>
            <a:ext cx="28575" cy="523875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1590675"/>
            <a:ext cx="2514600" cy="5238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2E3A"/>
                </a:solidFill>
                <a:latin typeface="Malgun Gothic"/>
              </a:rPr>
              <a:t>사용자“강남구 전세 보여줘”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475" y="2228850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99AAAA"/>
                </a:solidFill>
                <a:latin typeface="Malgun Gothic"/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09775" y="2571750"/>
            <a:ext cx="3048000" cy="838200"/>
          </a:xfrm>
          <a:prstGeom prst="round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5525" y="2743200"/>
            <a:ext cx="247650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Malgun Gothic"/>
              </a:rPr>
              <a:t>🏠 NoHome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95525" y="3086100"/>
            <a:ext cx="2476500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POST /api/ai/assistant · tool calling 분기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475" y="3524250"/>
            <a:ext cx="2286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99AAAA"/>
                </a:solidFill>
                <a:latin typeface="Malgun Gothic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50" y="3867150"/>
            <a:ext cx="2790825" cy="1266825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6750" y="3867150"/>
            <a:ext cx="28575" cy="1266825"/>
          </a:xfrm>
          <a:prstGeom prst="rect">
            <a:avLst/>
          </a:prstGeom>
          <a:solidFill>
            <a:srgbClr val="2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775" y="4048125"/>
            <a:ext cx="2390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486275"/>
            <a:ext cx="23907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6E56"/>
                </a:solidFill>
                <a:latin typeface="Malgun Gothic"/>
              </a:rPr>
              <a:t>질문 → 답변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4762500"/>
            <a:ext cx="23907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0F6E56"/>
                </a:solidFill>
                <a:latin typeface="Malgun Gothic"/>
              </a:rPr>
              <a:t>실거래 데이터를 요약해 대답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9975" y="3867150"/>
            <a:ext cx="2790825" cy="1266825"/>
          </a:xfrm>
          <a:prstGeom prst="roundRect">
            <a:avLst/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09975" y="3867150"/>
            <a:ext cx="28575" cy="1266825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0000" y="4048125"/>
            <a:ext cx="2390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🖱️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10000" y="4486275"/>
            <a:ext cx="23907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4E08"/>
                </a:solidFill>
                <a:latin typeface="Malgun Gothic"/>
              </a:rPr>
              <a:t>조작 → 명령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10000" y="4762500"/>
            <a:ext cx="23907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4E08"/>
                </a:solidFill>
                <a:latin typeface="Malgun Gothic"/>
              </a:rPr>
              <a:t>필터·검색·지도를 화면에서 실행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1590675"/>
            <a:ext cx="4238625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E2E3A"/>
                </a:solidFill>
                <a:latin typeface="Malgun Gothic"/>
              </a:rPr>
              <a:t>AI가 다루는 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6550" y="1990725"/>
            <a:ext cx="423862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8880"/>
                </a:solidFill>
                <a:latin typeface="Malgun Gothic"/>
              </a:rPr>
              <a:t>액션 6종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6550" y="3038475"/>
            <a:ext cx="423862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8880"/>
                </a:solidFill>
                <a:latin typeface="Malgun Gothic"/>
              </a:rPr>
              <a:t>필터 9종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86550" y="4105275"/>
            <a:ext cx="2066925" cy="8191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9425" y="4229100"/>
            <a:ext cx="17811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6FB0"/>
                </a:solidFill>
                <a:latin typeface="Malgun Gothic"/>
              </a:rPr>
              <a:t>returnDirect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9425" y="4457700"/>
            <a:ext cx="1781175" cy="3429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“답변 안 함”도 선택지 → 오분류 완화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58250" y="4105275"/>
            <a:ext cx="2066925" cy="8191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1125" y="4229100"/>
            <a:ext cx="17811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2E6FB0"/>
                </a:solidFill>
                <a:latin typeface="Malgun Gothic"/>
              </a:rPr>
              <a:t>단기 대화기억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1125" y="4457700"/>
            <a:ext cx="178117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  <a:latin typeface="Malgun Gothic"/>
              </a:rPr>
              <a:t>최근 10턴 · 세션 격리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50" y="5991225"/>
            <a:ext cx="10258425" cy="466725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50" y="5991225"/>
            <a:ext cx="10258425" cy="4667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5A92"/>
                </a:solidFill>
                <a:latin typeface="Malgun Gothic"/>
              </a:rPr>
              <a:t>벡터 임베딩 없이 Tool Calling으로 실거래 RDB를 조회하는 RAG 구조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검증 현황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테스트로 품질을 증명 — 최신 master 실측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704975"/>
            <a:ext cx="1733550" cy="952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1857375"/>
            <a:ext cx="14287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3E8EDE"/>
                </a:solidFill>
                <a:latin typeface="Malgun Gothic"/>
              </a:rPr>
              <a:t>177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333625"/>
            <a:ext cx="1428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F5E5A"/>
                </a:solidFill>
                <a:latin typeface="Malgun Gothic"/>
              </a:rPr>
              <a:t>백엔드 테스트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1750" y="1704975"/>
            <a:ext cx="1733550" cy="952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150" y="1857375"/>
            <a:ext cx="14287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3E8EDE"/>
                </a:solidFill>
                <a:latin typeface="Malgun Gothic"/>
              </a:rPr>
              <a:t>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150" y="2333625"/>
            <a:ext cx="1428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F5E5A"/>
                </a:solidFill>
                <a:latin typeface="Malgun Gothic"/>
              </a:rPr>
              <a:t>프론트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9125" y="1704975"/>
            <a:ext cx="1733550" cy="952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525" y="1857375"/>
            <a:ext cx="14287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1D9E75"/>
                </a:solidFill>
                <a:latin typeface="Malgun Gothic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525" y="2333625"/>
            <a:ext cx="14287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F5E5A"/>
                </a:solidFill>
                <a:latin typeface="Malgun Gothic"/>
              </a:rPr>
              <a:t>실패 / 오류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2905125"/>
            <a:ext cx="282892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3775" y="2905125"/>
            <a:ext cx="16192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Malgun Gothic"/>
              </a:rPr>
              <a:t>백엔드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3025" y="2905125"/>
            <a:ext cx="10096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Malgun Gothic"/>
              </a:rPr>
              <a:t>프론트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850" y="3343275"/>
            <a:ext cx="54578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850" y="3343275"/>
            <a:ext cx="282892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질문 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3775" y="3343275"/>
            <a:ext cx="16192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3025" y="3343275"/>
            <a:ext cx="10096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850" y="3781425"/>
            <a:ext cx="54578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3781425"/>
            <a:ext cx="282892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에이전트 MVP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3775" y="3781425"/>
            <a:ext cx="16192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105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3025" y="3781425"/>
            <a:ext cx="10096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28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850" y="4219575"/>
            <a:ext cx="54578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4219575"/>
            <a:ext cx="282892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Phase 2 / 재설계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33775" y="4219575"/>
            <a:ext cx="16192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113→144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3025" y="4219575"/>
            <a:ext cx="10096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44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850" y="4657725"/>
            <a:ext cx="5457825" cy="3619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850" y="4657725"/>
            <a:ext cx="282892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3E8EDE"/>
                </a:solidFill>
                <a:latin typeface="Malgun Gothic"/>
              </a:rPr>
              <a:t>최신 master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33775" y="4657725"/>
            <a:ext cx="16192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E8EDE"/>
                </a:solidFill>
                <a:latin typeface="Malgun Gothic"/>
              </a:rPr>
              <a:t>177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3025" y="4657725"/>
            <a:ext cx="10096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3E8EDE"/>
                </a:solidFill>
                <a:latin typeface="Malgun Gothic"/>
              </a:rPr>
              <a:t>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9375" y="1838325"/>
            <a:ext cx="44577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8A8880"/>
                </a:solidFill>
                <a:latin typeface="Malgun Gothic"/>
              </a:rPr>
              <a:t>사용자 시나리오 검증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29375" y="3324225"/>
            <a:ext cx="4457700" cy="82867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0825" y="3476625"/>
            <a:ext cx="41148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6FB0"/>
                </a:solidFill>
                <a:latin typeface="Malgun Gothic"/>
              </a:rPr>
              <a:t>E2E · 브라우저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0825" y="3790950"/>
            <a:ext cx="411480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풀스택 실데이터로 14+개 시나리오 검증, Sprint별 Reviewer Pass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전체 시스템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표준 3-tier + Docker Compose 단일 실행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762125"/>
            <a:ext cx="1809750" cy="12763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7450" y="1952625"/>
            <a:ext cx="14668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2E2E3A"/>
                </a:solidFill>
                <a:latin typeface="Malgun Gothic"/>
              </a:rPr>
              <a:t>🖥️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7450" y="2409825"/>
            <a:ext cx="14668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E2E3A"/>
                </a:solidFill>
                <a:latin typeface="Malgun Gothic"/>
              </a:rPr>
              <a:t>Vue 3 SPA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7450" y="2676525"/>
            <a:ext cx="14668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Vite · Kakao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9100" y="2190750"/>
            <a:ext cx="72390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880"/>
                </a:solidFill>
                <a:latin typeface="Malgun Gothic"/>
              </a:rPr>
              <a:t>→
/api (proxy)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6350" y="1762125"/>
            <a:ext cx="1809750" cy="12763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52625"/>
            <a:ext cx="14668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2E2E3A"/>
                </a:solidFill>
                <a:latin typeface="Malgun Gothic"/>
              </a:rP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409825"/>
            <a:ext cx="14668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E2E3A"/>
                </a:solidFill>
                <a:latin typeface="Malgun Gothic"/>
              </a:rPr>
              <a:t>Spring 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76525"/>
            <a:ext cx="14668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REST · MyBatis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9450" y="2190750"/>
            <a:ext cx="333375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880"/>
                </a:solidFill>
                <a:latin typeface="Malgun Gothic"/>
              </a:rPr>
              <a:t>→
JDBC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6175" y="1762125"/>
            <a:ext cx="1809750" cy="127635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7625" y="1952625"/>
            <a:ext cx="1466850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2E2E3A"/>
                </a:solidFill>
                <a:latin typeface="Malgun Gothic"/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7625" y="2409825"/>
            <a:ext cx="14668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2E2E3A"/>
                </a:solidFill>
                <a:latin typeface="Malgun Gothic"/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7625" y="2676525"/>
            <a:ext cx="146685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실거래·회원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850" y="3267075"/>
            <a:ext cx="10182225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8A8880"/>
                </a:solidFill>
                <a:latin typeface="Malgun Gothic"/>
              </a:rPr>
              <a:t>외부 연동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" y="3724275"/>
            <a:ext cx="3305175" cy="628650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50" y="3857625"/>
            <a:ext cx="30003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5A92"/>
                </a:solidFill>
                <a:latin typeface="Malgun Gothic"/>
              </a:rPr>
              <a:t>국토부 공공데이터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4067175"/>
            <a:ext cx="3000375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매매·전월세 실거래가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43375" y="3724275"/>
            <a:ext cx="3305175" cy="628650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5775" y="3857625"/>
            <a:ext cx="30003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5A92"/>
                </a:solidFill>
                <a:latin typeface="Malgun Gothic"/>
              </a:rPr>
              <a:t>SSAFY GMS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5775" y="4067175"/>
            <a:ext cx="3000375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OpenAI 프록시 (LLM)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1900" y="3724275"/>
            <a:ext cx="3305175" cy="628650"/>
          </a:xfrm>
          <a:prstGeom prst="round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34300" y="3857625"/>
            <a:ext cx="30003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5A92"/>
                </a:solidFill>
                <a:latin typeface="Malgun Gothic"/>
              </a:rPr>
              <a:t>Kakao 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4300" y="4067175"/>
            <a:ext cx="3000375" cy="152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지도 · geocoding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개발 환경 &amp; 기술 스택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43050"/>
            <a:ext cx="10182225" cy="6191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3550"/>
            <a:ext cx="12382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85FA5"/>
                </a:solidFill>
                <a:latin typeface="Malgun Gothic"/>
              </a:rPr>
              <a:t>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850" y="2295525"/>
            <a:ext cx="10182225" cy="6191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86025"/>
            <a:ext cx="12382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6E56"/>
                </a:solidFill>
                <a:latin typeface="Malgun Gothic"/>
              </a:rP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850" y="3048000"/>
            <a:ext cx="10182225" cy="6191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38500"/>
            <a:ext cx="1238250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4E08"/>
                </a:solidFill>
                <a:latin typeface="Malgun Gothic"/>
              </a:rPr>
              <a:t>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850" y="3800475"/>
            <a:ext cx="10182225" cy="6191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71925"/>
            <a:ext cx="123825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5E5A"/>
                </a:solidFill>
                <a:latin typeface="Malgun Gothic"/>
              </a:rPr>
              <a:t>인프라·협업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" y="4724400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" y="4724400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4724400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인증 자체 JWT(HS256) + BCrypt · 비밀키 전부 환경변수 분리(gitignored)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화면 흐름도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사용자 동선 한눈에 — 검색·지도·AI·회원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7800" y="2085975"/>
            <a:ext cx="6477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2085975"/>
            <a:ext cx="6477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진입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5075" y="2085975"/>
            <a:ext cx="202882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075" y="2085975"/>
            <a:ext cx="20288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거래유형·지역·가격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3950" y="2085975"/>
            <a:ext cx="64770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3950" y="2085975"/>
            <a:ext cx="6477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검색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1225" y="2085975"/>
            <a:ext cx="1809750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1225" y="2085975"/>
            <a:ext cx="180975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결과 목록 + 지도 마커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01025" y="1819275"/>
            <a:ext cx="1933575" cy="457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1025" y="1819275"/>
            <a:ext cx="1933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매물 선택 / 지도 포커스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01025" y="2352675"/>
            <a:ext cx="1933575" cy="457200"/>
          </a:xfrm>
          <a:prstGeom prst="round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1025" y="2352675"/>
            <a:ext cx="19335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AI 어시스턴트로 조작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29100" y="3038475"/>
            <a:ext cx="1152525" cy="457200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29100" y="3038475"/>
            <a:ext cx="115252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6310"/>
                </a:solidFill>
                <a:latin typeface="Malgun Gothic"/>
              </a:rPr>
              <a:t>회원 로그인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81675" y="3038475"/>
            <a:ext cx="1590675" cy="457200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1675" y="3038475"/>
            <a:ext cx="15906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6310"/>
                </a:solidFill>
                <a:latin typeface="Malgun Gothic"/>
              </a:rPr>
              <a:t>내 정보 · 관심지역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시연 — UCC 영상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21920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로컬 동작 실패 대비 3~5분 영상(YouTube) · Clova/육성 + 자막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800225"/>
            <a:ext cx="1552575" cy="352425"/>
          </a:xfrm>
          <a:prstGeom prst="roundRect">
            <a:avLst/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850" y="1800225"/>
            <a:ext cx="1552575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8A4E08"/>
                </a:solidFill>
                <a:latin typeface="Malgun Gothic"/>
              </a:rPr>
              <a:t>🎬 영상 콘티 4단계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850" y="2286000"/>
            <a:ext cx="4972050" cy="571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" y="2409825"/>
            <a:ext cx="323850" cy="3238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7250" y="2409825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50" y="2476500"/>
            <a:ext cx="234315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지역+거래유형 검색 → 결과 + 지도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850" y="2971800"/>
            <a:ext cx="4972050" cy="571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7250" y="3095625"/>
            <a:ext cx="323850" cy="3238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3095625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4450" y="3162300"/>
            <a:ext cx="16668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가격 필터 조정 → 재검색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850" y="3657600"/>
            <a:ext cx="4972050" cy="571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7250" y="3781425"/>
            <a:ext cx="323850" cy="3238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50" y="3781425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4450" y="3848100"/>
            <a:ext cx="33528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AI에게 "월세, 보증금 1억 이하" → 화면 자동 변화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850" y="4343400"/>
            <a:ext cx="4972050" cy="571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7250" y="4467225"/>
            <a:ext cx="323850" cy="323850"/>
          </a:xfrm>
          <a:prstGeom prst="ellipse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250" y="4467225"/>
            <a:ext cx="323850" cy="3238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4450" y="4533900"/>
            <a:ext cx="1514475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회원 로그인 → 내 정보</a:t>
            </a:r>
          </a:p>
        </p:txBody>
      </p:sp>
      <p:pic>
        <p:nvPicPr>
          <p:cNvPr id="27" name="Picture 26" descr="gangnamgu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800225"/>
            <a:ext cx="2438400" cy="1333500"/>
          </a:xfrm>
          <a:prstGeom prst="rect">
            <a:avLst/>
          </a:prstGeom>
        </p:spPr>
      </p:pic>
      <p:pic>
        <p:nvPicPr>
          <p:cNvPr id="28" name="Picture 27" descr="thirdHigh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8675" y="1800225"/>
            <a:ext cx="2438400" cy="1333500"/>
          </a:xfrm>
          <a:prstGeom prst="rect">
            <a:avLst/>
          </a:prstGeom>
        </p:spPr>
      </p:pic>
      <p:pic>
        <p:nvPicPr>
          <p:cNvPr id="29" name="Picture 28" descr="no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550" y="3228975"/>
            <a:ext cx="2438400" cy="2162175"/>
          </a:xfrm>
          <a:prstGeom prst="rect">
            <a:avLst/>
          </a:prstGeom>
        </p:spPr>
      </p:pic>
      <p:pic>
        <p:nvPicPr>
          <p:cNvPr id="30" name="Picture 29" descr="log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675" y="3228975"/>
            <a:ext cx="24384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Tool Calling + returnDirect 패턴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단일 /assistant에서 LLM이 도구 호출로 분기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724025"/>
            <a:ext cx="5000625" cy="1543050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850" y="1724025"/>
            <a:ext cx="28575" cy="1543050"/>
          </a:xfrm>
          <a:prstGeom prst="rect">
            <a:avLst/>
          </a:prstGeom>
          <a:solidFill>
            <a:srgbClr val="2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2975" y="1943100"/>
            <a:ext cx="4524375" cy="276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6E56"/>
                </a:solidFill>
                <a:latin typeface="Malgun Gothic"/>
              </a:rPr>
              <a:t>💬 데이터 조회 도구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2975" y="2295525"/>
            <a:ext cx="1485900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75" y="2295525"/>
            <a:ext cx="14859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2E2E3A"/>
                </a:solidFill>
                <a:latin typeface="Malgun Gothic"/>
              </a:rPr>
              <a:t>returnDirect = 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2619375"/>
            <a:ext cx="45243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searchSeoulAptDeals → 결과를 LLM이 텍스트로 요약 (answer)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5975" y="1724025"/>
            <a:ext cx="5000625" cy="1543050"/>
          </a:xfrm>
          <a:prstGeom prst="roundRect">
            <a:avLst/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5975" y="1724025"/>
            <a:ext cx="28575" cy="1543050"/>
          </a:xfrm>
          <a:prstGeom prst="rect">
            <a:avLst/>
          </a:prstGeom>
          <a:solidFill>
            <a:srgbClr val="F0A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4100" y="1943100"/>
            <a:ext cx="4524375" cy="276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4E08"/>
                </a:solidFill>
                <a:latin typeface="Malgun Gothic"/>
              </a:rPr>
              <a:t>🖱️ 페이지 액션 도구 6종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4100" y="2295525"/>
            <a:ext cx="1419225" cy="228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4100" y="2295525"/>
            <a:ext cx="141922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2E2E3A"/>
                </a:solidFill>
                <a:latin typeface="Malgun Gothic"/>
              </a:rPr>
              <a:t>returnDirect =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4100" y="2619375"/>
            <a:ext cx="4524375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4E08"/>
                </a:solidFill>
                <a:latin typeface="Malgun Gothic"/>
              </a:rPr>
              <a:t>AgentCommand를 LLM 후처리 없이 직접 반환 → 프론트 실행 (command). finishReason="returnDirect"로 결정적 식별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850" y="3571875"/>
            <a:ext cx="10182225" cy="85725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850" y="3571875"/>
            <a:ext cx="76200" cy="85725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3571875"/>
            <a:ext cx="10182225" cy="857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핵심 — "아무 도구도 안 부름 = 일반 답변"을 1급 선택지로 둬 불만·모호 발화의 억지 액션 오분류를 구조적으로 완화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Capability-driven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단일 출처(filterSchema) + 프론트 최종 강제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762125"/>
            <a:ext cx="3124200" cy="11144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7250" y="1914525"/>
            <a:ext cx="2819400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E2E3A"/>
                </a:solidFill>
                <a:latin typeface="Malgun Gothic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2324100"/>
            <a:ext cx="28194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프론트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2552700"/>
            <a:ext cx="2819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capabilities + 현재 필터 동봉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4300" y="2190750"/>
            <a:ext cx="2095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3E8ED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9100" y="1762125"/>
            <a:ext cx="3124200" cy="11144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1500" y="1914525"/>
            <a:ext cx="2819400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E2E3A"/>
                </a:solidFill>
                <a:latin typeface="Malgun Gothic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1500" y="2324100"/>
            <a:ext cx="28194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1500" y="2552700"/>
            <a:ext cx="2819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allow-list 힌트로만 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8075" y="2190750"/>
            <a:ext cx="20955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3E8EDE"/>
                </a:solidFill>
                <a:latin typeface="Malgun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62875" y="1762125"/>
            <a:ext cx="3124200" cy="11144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5275" y="1914525"/>
            <a:ext cx="2819400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E2E3A"/>
                </a:solidFill>
                <a:latin typeface="Malgun Gothic"/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5275" y="2324100"/>
            <a:ext cx="2819400" cy="190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프론트 적용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5275" y="2552700"/>
            <a:ext cx="2819400" cy="171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5E5A"/>
                </a:solidFill>
                <a:latin typeface="Malgun Gothic"/>
              </a:rPr>
              <a:t>인식 키만 적용, 미인식 키 drop + 안내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850" y="3105150"/>
            <a:ext cx="5495925" cy="990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0" y="3257550"/>
            <a:ext cx="515302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6FB0"/>
                </a:solidFill>
                <a:latin typeface="Malgun Gothic"/>
              </a:rPr>
              <a:t>drift 차단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3524250"/>
            <a:ext cx="5153025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새 필터(전월세)도 filterSchema 한 곳만 수정하면 자동 적응 · 폼↔schema 동기화 테스트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4125" y="3105150"/>
            <a:ext cx="4552950" cy="990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5575" y="3257550"/>
            <a:ext cx="4210050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6FB0"/>
                </a:solidFill>
                <a:latin typeface="Malgun Gothic"/>
              </a:rPr>
              <a:t>서버 결정적 가드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575" y="3524250"/>
            <a:ext cx="4210050" cy="4191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거래월·지역 유효성은 LLM이 아닌 서버(AgentCommandGuards)가 판정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단기 대화기억 — 저장소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21920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MessageWindowChatMemory(InMemory, 최근 10턴) · conversationId = memberId:UUID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1895475"/>
            <a:ext cx="3152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E5A"/>
                </a:solidFill>
                <a:latin typeface="Malgun Gothic"/>
              </a:rPr>
              <a:t>기준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7625" y="1895475"/>
            <a:ext cx="1971675" cy="400050"/>
          </a:xfrm>
          <a:prstGeom prst="round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7625" y="1895475"/>
            <a:ext cx="19716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A4410"/>
                </a:solidFill>
                <a:latin typeface="Malgun Gothic"/>
              </a:rPr>
              <a:t>InMemory (채택)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0" y="1895475"/>
            <a:ext cx="16478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Malgun Gothic"/>
              </a:rPr>
              <a:t>localStorage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7125" y="1895475"/>
            <a:ext cx="17240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Malgun Gothic"/>
              </a:rPr>
              <a:t>RDB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1150" y="1895475"/>
            <a:ext cx="16859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F5E5A"/>
                </a:solidFill>
                <a:latin typeface="Malgun Gothic"/>
              </a:rPr>
              <a:t>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850" y="2371725"/>
            <a:ext cx="10182225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850" y="2371725"/>
            <a:ext cx="3152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원문 위치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7625" y="2371725"/>
            <a:ext cx="1971675" cy="4000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57625" y="2371725"/>
            <a:ext cx="19716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2E3A"/>
                </a:solidFill>
                <a:latin typeface="Malgun Gothic"/>
              </a:rPr>
              <a:t>서버 메모리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9300" y="2371725"/>
            <a:ext cx="16478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클라이언트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7125" y="2371725"/>
            <a:ext cx="17240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서버 디스크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2371725"/>
            <a:ext cx="16859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E2E3A"/>
                </a:solidFill>
                <a:latin typeface="Malgun Gothic"/>
              </a:rPr>
              <a:t>서버 메모리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850" y="2847975"/>
            <a:ext cx="10182225" cy="4381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2847975"/>
            <a:ext cx="3152775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영속성(닫으면 초기화)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7625" y="2847975"/>
            <a:ext cx="1971675" cy="4381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57625" y="2847975"/>
            <a:ext cx="1971675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9E75"/>
                </a:solidFill>
                <a:latin typeface="Malgun Gothic"/>
              </a:rPr>
              <a:t>✓ 휘발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9300" y="2847975"/>
            <a:ext cx="1647825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0982B"/>
                </a:solidFill>
                <a:latin typeface="Malgun Gothic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7125" y="2847975"/>
            <a:ext cx="1724025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9C7BF"/>
                </a:solidFill>
                <a:latin typeface="Malgun Gothic"/>
              </a:rPr>
              <a:t>영속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1150" y="2847975"/>
            <a:ext cx="1685925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0982B"/>
                </a:solidFill>
                <a:latin typeface="Malgun Gothic"/>
              </a:rPr>
              <a:t>TTL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850" y="3362325"/>
            <a:ext cx="10182225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850" y="3362325"/>
            <a:ext cx="3152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프라이버시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7625" y="3362325"/>
            <a:ext cx="1971675" cy="4000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57625" y="3362325"/>
            <a:ext cx="19716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9E75"/>
                </a:solidFill>
                <a:latin typeface="Malgun Gothic"/>
              </a:rPr>
              <a:t>높음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9300" y="3362325"/>
            <a:ext cx="16478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0982B"/>
                </a:solidFill>
                <a:latin typeface="Malgun Gothic"/>
              </a:rPr>
              <a:t>XSS 위험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7125" y="3362325"/>
            <a:ext cx="17240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9C7BF"/>
                </a:solidFill>
                <a:latin typeface="Malgun Gothic"/>
              </a:rPr>
              <a:t>영속 책임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1150" y="3362325"/>
            <a:ext cx="16859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0982B"/>
                </a:solidFill>
                <a:latin typeface="Malgun Gothic"/>
              </a:rPr>
              <a:t>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850" y="3838575"/>
            <a:ext cx="10182225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850" y="3838575"/>
            <a:ext cx="31527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2E3A"/>
                </a:solidFill>
                <a:latin typeface="Malgun Gothic"/>
              </a:rPr>
              <a:t>운영 비용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57625" y="3838575"/>
            <a:ext cx="1971675" cy="400050"/>
          </a:xfrm>
          <a:prstGeom prst="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57625" y="3838575"/>
            <a:ext cx="19716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9E75"/>
                </a:solidFill>
                <a:latin typeface="Malgun Gothic"/>
              </a:rPr>
              <a:t>없음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29300" y="3838575"/>
            <a:ext cx="16478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D9E75"/>
                </a:solidFill>
                <a:latin typeface="Malgun Gothic"/>
              </a:rPr>
              <a:t>없음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7125" y="3838575"/>
            <a:ext cx="17240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0982B"/>
                </a:solidFill>
                <a:latin typeface="Malgun Gothic"/>
              </a:rPr>
              <a:t>스키마·정리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1150" y="3838575"/>
            <a:ext cx="168592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9C7BF"/>
                </a:solidFill>
                <a:latin typeface="Malgun Gothic"/>
              </a:rPr>
              <a:t>인프라 추가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850" y="4619625"/>
            <a:ext cx="10182225" cy="857250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850" y="4619625"/>
            <a:ext cx="76200" cy="857250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850" y="4619625"/>
            <a:ext cx="10182225" cy="857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"닫으면 초기화 + 원문 비영속" 요구에 최적 — 전환 시 ChatMemoryRepository 빈 1곳만 교체(스케일아웃→Redis)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라이브 검색 성능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미캐시 첫 조회 지연 문제 해결 (DB 우선 + 부족분 자동 적재)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850" y="1724025"/>
            <a:ext cx="4657725" cy="1628775"/>
          </a:xfrm>
          <a:prstGeom prst="roundRect">
            <a:avLst/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850" y="1724025"/>
            <a:ext cx="28575" cy="1628775"/>
          </a:xfrm>
          <a:prstGeom prst="rect">
            <a:avLst/>
          </a:prstGeom>
          <a:solidFill>
            <a:srgbClr val="E24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925" y="1943100"/>
            <a:ext cx="421957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A32D2D"/>
                </a:solidFill>
                <a:latin typeface="Malgun Gothic"/>
              </a:rPr>
              <a:t>개선 전 · ~17초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2400300"/>
            <a:ext cx="4219575" cy="733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E2E3A"/>
                </a:solidFill>
                <a:latin typeface="Malgun Gothic"/>
              </a:rPr>
              <a:t>• 응답 전 API 결과 전체 DB 저장
• row-by-row 적재(수천 왕복)
• numOfRows 100 → 페이지 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5925" y="2333625"/>
            <a:ext cx="609600" cy="4095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3E8EDE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8875" y="1724025"/>
            <a:ext cx="4657725" cy="1628775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8875" y="1724025"/>
            <a:ext cx="28575" cy="1628775"/>
          </a:xfrm>
          <a:prstGeom prst="rect">
            <a:avLst/>
          </a:prstGeom>
          <a:solidFill>
            <a:srgbClr val="2FB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7950" y="1943100"/>
            <a:ext cx="421957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0F6E56"/>
                </a:solidFill>
                <a:latin typeface="Malgun Gothic"/>
              </a:rPr>
              <a:t>개선 후 · 대폭 단축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7950" y="2400300"/>
            <a:ext cx="4219575" cy="733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E2E3A"/>
                </a:solidFill>
                <a:latin typeface="Malgun Gothic"/>
              </a:rPr>
              <a:t>• 응답 우선 + DB 백그라운드 batch
• batch upsert + INSERT IGNORE
• numOfRows 1000 (16→2페이지)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850" y="3657600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850" y="3657600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850" y="3657600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응답 경로와 저장 경로를 분리 — 먼저 보여주고, 적재는 백그라운드로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보안 · 인코딩 패턴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619250"/>
            <a:ext cx="5019675" cy="14573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5350" y="1790700"/>
            <a:ext cx="4638675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2E2E3A"/>
                </a:solidFill>
                <a:latin typeface="Malgun Gothic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2200275"/>
            <a:ext cx="463867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476500"/>
            <a:ext cx="4638675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JWT(HS256) + BCrypt + 운영 fail-closed(secret 검증) · 회원 검색 관리자 권한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6925" y="1619250"/>
            <a:ext cx="5019675" cy="14573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7425" y="1790700"/>
            <a:ext cx="4638675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2E2E3A"/>
                </a:solidFill>
                <a:latin typeface="Malgun Gothic"/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7425" y="2200275"/>
            <a:ext cx="463867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지역 매핑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7425" y="2476500"/>
            <a:ext cx="46386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SeoulLawdCodeResolver(서울 25개 자치구) + 법정동 catalog 머지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" y="3228975"/>
            <a:ext cx="5019675" cy="14573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50" y="3400425"/>
            <a:ext cx="4638675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2E2E3A"/>
                </a:solidFill>
                <a:latin typeface="Malgun Gothic"/>
              </a:rPr>
              <a:t>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810000"/>
            <a:ext cx="463867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인코딩 복구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4086225"/>
            <a:ext cx="4638675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mojibake 보정(SET NAMES utf8mb4, DB 읽기 시) — AI 환각처럼 보인 문제 해결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6925" y="3228975"/>
            <a:ext cx="5019675" cy="1457325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7425" y="3400425"/>
            <a:ext cx="4638675" cy="3524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2E2E3A"/>
                </a:solidFill>
                <a:latin typeface="Malgun Gothic"/>
              </a:rPr>
              <a:t>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7425" y="3810000"/>
            <a:ext cx="4638675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Graceful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7425" y="4086225"/>
            <a:ext cx="46386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GMS 키 부재 시 AI만 503, 나머지 정상 기동(EnvironmentPostProcessor)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850" y="4991100"/>
            <a:ext cx="10182225" cy="619125"/>
          </a:xfrm>
          <a:prstGeom prst="rect">
            <a:avLst/>
          </a:prstGeom>
          <a:solidFill>
            <a:srgbClr val="EA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850" y="4991100"/>
            <a:ext cx="76200" cy="619125"/>
          </a:xfrm>
          <a:prstGeom prst="rect">
            <a:avLst/>
          </a:prstGeom>
          <a:solidFill>
            <a:srgbClr val="3E8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850" y="4991100"/>
            <a:ext cx="10182225" cy="619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5A92"/>
                </a:solidFill>
                <a:latin typeface="Malgun Gothic"/>
              </a:rPr>
              <a:t>개인정보 — 대화 원문·조회결과 미기록·비영속, 진단 로그도 메타데이터만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기대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43050"/>
            <a:ext cx="5019675" cy="1352550"/>
          </a:xfrm>
          <a:prstGeom prst="roundRect">
            <a:avLst/>
          </a:prstGeom>
          <a:solidFill>
            <a:srgbClr val="E6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33550"/>
            <a:ext cx="46005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0750"/>
            <a:ext cx="46005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85FA5"/>
                </a:solidFill>
                <a:latin typeface="Malgun Gothic"/>
              </a:rPr>
              <a:t>사용자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6025"/>
            <a:ext cx="46005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F5A92"/>
                </a:solidFill>
                <a:latin typeface="Malgun Gothic"/>
              </a:rPr>
              <a:t>공공데이터 진입장벽 제거 — 누구나 자연어로 실거래가 탐색·조작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6925" y="1543050"/>
            <a:ext cx="5019675" cy="1352550"/>
          </a:xfrm>
          <a:prstGeom prst="roundRect">
            <a:avLst/>
          </a:prstGeom>
          <a:solidFill>
            <a:srgbClr val="E1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6475" y="1733550"/>
            <a:ext cx="46005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6475" y="2190750"/>
            <a:ext cx="46005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F6E56"/>
                </a:solidFill>
                <a:latin typeface="Malgun Gothic"/>
              </a:rPr>
              <a:t>기술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6475" y="2486025"/>
            <a:ext cx="46005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Spring AI Tool Calling 실전 적용 · DB 우선 + 자동 적재로 응답성·정합성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" y="3048000"/>
            <a:ext cx="5019675" cy="1352550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238500"/>
            <a:ext cx="46005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95700"/>
            <a:ext cx="46005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6310"/>
                </a:solidFill>
                <a:latin typeface="Malgun Gothic"/>
              </a:rPr>
              <a:t>확장성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90975"/>
            <a:ext cx="46005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7A5A10"/>
                </a:solidFill>
                <a:latin typeface="Malgun Gothic"/>
              </a:rPr>
              <a:t>capability-driven 구조로 신규 필터·기능 저비용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6925" y="3048000"/>
            <a:ext cx="5019675" cy="1352550"/>
          </a:xfrm>
          <a:prstGeom prst="roundRect">
            <a:avLst/>
          </a:prstGeom>
          <a:solidFill>
            <a:srgbClr val="FBE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6475" y="3238500"/>
            <a:ext cx="4600575" cy="400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>
                <a:solidFill>
                  <a:srgbClr val="2E2E3A"/>
                </a:solidFill>
                <a:latin typeface="Malgun Gothic"/>
              </a:rPr>
              <a:t>🛡️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6475" y="3695700"/>
            <a:ext cx="4600575" cy="2381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8A4E08"/>
                </a:solidFill>
                <a:latin typeface="Malgun Gothic"/>
              </a:rPr>
              <a:t>운영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6475" y="3990975"/>
            <a:ext cx="46005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8A4E08"/>
                </a:solidFill>
                <a:latin typeface="Malgun Gothic"/>
              </a:rPr>
              <a:t>개인정보 미기록 로깅 + fail-closed 보안으로 안전 배포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552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트러블슈팅 회고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" y="1123950"/>
            <a:ext cx="10182225" cy="200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5E5A"/>
                </a:solidFill>
                <a:latin typeface="Malgun Gothic"/>
              </a:rPr>
              <a:t>실제로 부딪힌 문제 → 원인 →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850" y="1781175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E5A"/>
                </a:solidFill>
                <a:latin typeface="Malgun Gothic"/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2775" y="178117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원인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9925" y="178117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해결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850" y="2247900"/>
            <a:ext cx="1018222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850" y="2247900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2E3A"/>
                </a:solidFill>
                <a:latin typeface="Malgun Gothic"/>
              </a:rPr>
              <a:t>공공데이터 142건 중 10건만 적재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2775" y="224790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API 페이지네이션 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9925" y="224790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전체 페이지 순회 적재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850" y="2714625"/>
            <a:ext cx="1018222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2714625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2E3A"/>
                </a:solidFill>
                <a:latin typeface="Malgun Gothic"/>
              </a:rPr>
              <a:t>강남구 데이터인데 "조회 불가"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2775" y="271462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정상코드 "000"을 실패로 오분류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9925" y="271462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성공 화이트리스트 {"00","000"}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850" y="3181350"/>
            <a:ext cx="1018222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" y="3181350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2E3A"/>
                </a:solidFill>
                <a:latin typeface="Malgun Gothic"/>
              </a:rPr>
              <a:t>미캐시 첫 조회 17초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2775" y="318135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저장 완료까지 대기·row-by-row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25" y="318135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응답 우선 + 백그라운드 batch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850" y="3648075"/>
            <a:ext cx="1018222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850" y="3648075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2E3A"/>
                </a:solidFill>
                <a:latin typeface="Malgun Gothic"/>
              </a:rPr>
              <a:t>검색하면 Kakao 지도 사라짐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2775" y="364807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Vue 리렌더가 비-Vue DOM 제거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9925" y="3648075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지도 상태를 reactive 밖으로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850" y="4114800"/>
            <a:ext cx="10182225" cy="390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850" y="4114800"/>
            <a:ext cx="2447925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2E3A"/>
                </a:solidFill>
                <a:latin typeface="Malgun Gothic"/>
              </a:rPr>
              <a:t>AI가 아파트명만 환각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2775" y="411480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A32D2D"/>
                </a:solidFill>
                <a:latin typeface="Malgun Gothic"/>
              </a:rPr>
              <a:t>seed 더블 인코딩(mojibake) 입력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9925" y="4114800"/>
            <a:ext cx="3867150" cy="390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0F6E56"/>
                </a:solidFill>
                <a:latin typeface="Malgun Gothic"/>
              </a:rPr>
              <a:t>utf8mb4 재초기화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850" y="552450"/>
            <a:ext cx="10182225" cy="647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0">
                <a:solidFill>
                  <a:srgbClr val="2E2E3A"/>
                </a:solidFill>
                <a:latin typeface="Malgun Gothic"/>
              </a:rPr>
              <a:t>개발 후기 — 팀 회고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850" y="1524000"/>
            <a:ext cx="10182225" cy="600075"/>
          </a:xfrm>
          <a:prstGeom prst="roundRect">
            <a:avLst/>
          </a:prstGeom>
          <a:solidFill>
            <a:srgbClr val="FB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850" y="1524000"/>
            <a:ext cx="10182225" cy="600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7A5A10"/>
                </a:solidFill>
                <a:latin typeface="Malgun Gothic"/>
              </a:rPr>
              <a:t>패자부활전 — 남은 셋이 모인 팀이었지만, 짧은 기간 안에 명확한 역할 분배와 일정 관리로 성공적으로 마무리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850" y="2352675"/>
            <a:ext cx="3295650" cy="1028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" y="2524125"/>
            <a:ext cx="2952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최
최민식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00375"/>
            <a:ext cx="2952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8880"/>
                </a:solidFill>
                <a:latin typeface="Malgun Gothic"/>
              </a:rPr>
              <a:t>“회고 작성 예정”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2900" y="2352675"/>
            <a:ext cx="3295650" cy="1028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4350" y="2524125"/>
            <a:ext cx="2952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전
전효준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4350" y="3000375"/>
            <a:ext cx="2952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8880"/>
                </a:solidFill>
                <a:latin typeface="Malgun Gothic"/>
              </a:rPr>
              <a:t>“회고 작성 예정”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91425" y="2352675"/>
            <a:ext cx="3295650" cy="10287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2875" y="2524125"/>
            <a:ext cx="2952750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E3A"/>
                </a:solidFill>
                <a:latin typeface="Malgun Gothic"/>
              </a:rPr>
              <a:t>이
이정헌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2875" y="3000375"/>
            <a:ext cx="2952750" cy="209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8880"/>
                </a:solidFill>
                <a:latin typeface="Malgun Gothic"/>
              </a:rPr>
              <a:t>“회고 작성 예정”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91375" cy="13335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91375" y="0"/>
            <a:ext cx="4400550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C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58575" y="0"/>
            <a:ext cx="133350" cy="685800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24650"/>
            <a:ext cx="11591925" cy="133350"/>
          </a:xfrm>
          <a:prstGeom prst="rect">
            <a:avLst/>
          </a:prstGeom>
          <a:solidFill>
            <a:srgbClr val="82B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238375"/>
            <a:ext cx="3371850" cy="981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0">
                <a:solidFill>
                  <a:srgbClr val="2E2E3A"/>
                </a:solidFill>
                <a:latin typeface="Malgun Gothic"/>
              </a:rPr>
              <a:t>공공데이터 실거래가를,
API를 몰라도, 말 한마디로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8975" y="3381375"/>
            <a:ext cx="5133975" cy="2190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5F5E5A"/>
                </a:solidFill>
                <a:latin typeface="Malgun Gothic"/>
              </a:rPr>
              <a:t>공공데이터 기반 실거래가 조회 &amp; AI 어시스턴트 서비스 — NoHome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48275" y="3981450"/>
            <a:ext cx="1095375" cy="361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3E8EDE"/>
                </a:solidFill>
                <a:latin typeface="Malgun Gothic"/>
              </a:rPr>
              <a:t>감사합니다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4438650"/>
            <a:ext cx="2276475" cy="1809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8A8880"/>
                </a:solidFill>
                <a:latin typeface="Malgun Gothic"/>
              </a:rPr>
              <a:t>패자부활전 · 이정헌 · 최민식 · 전효준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